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1" r:id="rId2"/>
    <p:sldId id="267" r:id="rId3"/>
    <p:sldId id="268" r:id="rId4"/>
    <p:sldId id="274" r:id="rId5"/>
    <p:sldId id="273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88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2FA1-3491-4944-9AB7-A25DD1F2E27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84B6D-A38B-4AD2-B4BF-4B790CD3ED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3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ff4209b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ff4209b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09.06.2026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6" name="Google Shape;22;p3">
            <a:extLst>
              <a:ext uri="{FF2B5EF4-FFF2-40B4-BE49-F238E27FC236}">
                <a16:creationId xmlns:a16="http://schemas.microsoft.com/office/drawing/2014/main" id="{D7C44C21-AA69-4906-8446-8466CB266AF9}"/>
              </a:ext>
            </a:extLst>
          </p:cNvPr>
          <p:cNvSpPr/>
          <p:nvPr userDrawn="1"/>
        </p:nvSpPr>
        <p:spPr>
          <a:xfrm rot="10516523" flipH="1">
            <a:off x="7001022" y="6109468"/>
            <a:ext cx="6478482" cy="2167837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31457"/>
              <a:gd name="connsiteX1" fmla="*/ 58067 w 73424"/>
              <a:gd name="connsiteY1" fmla="*/ 19389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" fmla="*/ 73424 w 73424"/>
              <a:gd name="connsiteY0" fmla="*/ 0 h 29376"/>
              <a:gd name="connsiteX1" fmla="*/ 58067 w 73424"/>
              <a:gd name="connsiteY1" fmla="*/ 19389 h 29376"/>
              <a:gd name="connsiteX2" fmla="*/ 24778 w 73424"/>
              <a:gd name="connsiteY2" fmla="*/ 25788 h 29376"/>
              <a:gd name="connsiteX3" fmla="*/ 16974 w 73424"/>
              <a:gd name="connsiteY3" fmla="*/ 29025 h 29376"/>
              <a:gd name="connsiteX4" fmla="*/ 0 w 73424"/>
              <a:gd name="connsiteY4" fmla="*/ 18035 h 29376"/>
              <a:gd name="connsiteX0" fmla="*/ 67041 w 67041"/>
              <a:gd name="connsiteY0" fmla="*/ 0 h 29376"/>
              <a:gd name="connsiteX1" fmla="*/ 51684 w 67041"/>
              <a:gd name="connsiteY1" fmla="*/ 19389 h 29376"/>
              <a:gd name="connsiteX2" fmla="*/ 18395 w 67041"/>
              <a:gd name="connsiteY2" fmla="*/ 25788 h 29376"/>
              <a:gd name="connsiteX3" fmla="*/ 10591 w 67041"/>
              <a:gd name="connsiteY3" fmla="*/ 29025 h 29376"/>
              <a:gd name="connsiteX4" fmla="*/ 0 w 67041"/>
              <a:gd name="connsiteY4" fmla="*/ 10502 h 29376"/>
              <a:gd name="connsiteX0" fmla="*/ 67041 w 67041"/>
              <a:gd name="connsiteY0" fmla="*/ 0 h 27223"/>
              <a:gd name="connsiteX1" fmla="*/ 51684 w 67041"/>
              <a:gd name="connsiteY1" fmla="*/ 19389 h 27223"/>
              <a:gd name="connsiteX2" fmla="*/ 18395 w 67041"/>
              <a:gd name="connsiteY2" fmla="*/ 25788 h 27223"/>
              <a:gd name="connsiteX3" fmla="*/ 10214 w 67041"/>
              <a:gd name="connsiteY3" fmla="*/ 26197 h 27223"/>
              <a:gd name="connsiteX4" fmla="*/ 0 w 67041"/>
              <a:gd name="connsiteY4" fmla="*/ 10502 h 27223"/>
              <a:gd name="connsiteX0" fmla="*/ 67041 w 67041"/>
              <a:gd name="connsiteY0" fmla="*/ 0 h 28127"/>
              <a:gd name="connsiteX1" fmla="*/ 51684 w 67041"/>
              <a:gd name="connsiteY1" fmla="*/ 19389 h 28127"/>
              <a:gd name="connsiteX2" fmla="*/ 20086 w 67041"/>
              <a:gd name="connsiteY2" fmla="*/ 27221 h 28127"/>
              <a:gd name="connsiteX3" fmla="*/ 10214 w 67041"/>
              <a:gd name="connsiteY3" fmla="*/ 26197 h 28127"/>
              <a:gd name="connsiteX4" fmla="*/ 0 w 67041"/>
              <a:gd name="connsiteY4" fmla="*/ 10502 h 28127"/>
              <a:gd name="connsiteX0" fmla="*/ 67041 w 67041"/>
              <a:gd name="connsiteY0" fmla="*/ 0 h 27915"/>
              <a:gd name="connsiteX1" fmla="*/ 51684 w 67041"/>
              <a:gd name="connsiteY1" fmla="*/ 19389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7041 w 67041"/>
              <a:gd name="connsiteY0" fmla="*/ 0 h 27915"/>
              <a:gd name="connsiteX1" fmla="*/ 43220 w 67041"/>
              <a:gd name="connsiteY1" fmla="*/ 6935 h 27915"/>
              <a:gd name="connsiteX2" fmla="*/ 20086 w 67041"/>
              <a:gd name="connsiteY2" fmla="*/ 27221 h 27915"/>
              <a:gd name="connsiteX3" fmla="*/ 10984 w 67041"/>
              <a:gd name="connsiteY3" fmla="*/ 25133 h 27915"/>
              <a:gd name="connsiteX4" fmla="*/ 0 w 67041"/>
              <a:gd name="connsiteY4" fmla="*/ 10502 h 27915"/>
              <a:gd name="connsiteX0" fmla="*/ 60570 w 60570"/>
              <a:gd name="connsiteY0" fmla="*/ 0 h 30097"/>
              <a:gd name="connsiteX1" fmla="*/ 43220 w 60570"/>
              <a:gd name="connsiteY1" fmla="*/ 9117 h 30097"/>
              <a:gd name="connsiteX2" fmla="*/ 20086 w 60570"/>
              <a:gd name="connsiteY2" fmla="*/ 29403 h 30097"/>
              <a:gd name="connsiteX3" fmla="*/ 10984 w 60570"/>
              <a:gd name="connsiteY3" fmla="*/ 27315 h 30097"/>
              <a:gd name="connsiteX4" fmla="*/ 0 w 60570"/>
              <a:gd name="connsiteY4" fmla="*/ 12684 h 30097"/>
              <a:gd name="connsiteX0" fmla="*/ 60570 w 60570"/>
              <a:gd name="connsiteY0" fmla="*/ 0 h 27454"/>
              <a:gd name="connsiteX1" fmla="*/ 43220 w 60570"/>
              <a:gd name="connsiteY1" fmla="*/ 9117 h 27454"/>
              <a:gd name="connsiteX2" fmla="*/ 24939 w 60570"/>
              <a:gd name="connsiteY2" fmla="*/ 18567 h 27454"/>
              <a:gd name="connsiteX3" fmla="*/ 10984 w 60570"/>
              <a:gd name="connsiteY3" fmla="*/ 27315 h 27454"/>
              <a:gd name="connsiteX4" fmla="*/ 0 w 60570"/>
              <a:gd name="connsiteY4" fmla="*/ 12684 h 27454"/>
              <a:gd name="connsiteX0" fmla="*/ 60570 w 60570"/>
              <a:gd name="connsiteY0" fmla="*/ 0 h 23696"/>
              <a:gd name="connsiteX1" fmla="*/ 43220 w 60570"/>
              <a:gd name="connsiteY1" fmla="*/ 9117 h 23696"/>
              <a:gd name="connsiteX2" fmla="*/ 24939 w 60570"/>
              <a:gd name="connsiteY2" fmla="*/ 18567 h 23696"/>
              <a:gd name="connsiteX3" fmla="*/ 8718 w 60570"/>
              <a:gd name="connsiteY3" fmla="*/ 23434 h 23696"/>
              <a:gd name="connsiteX4" fmla="*/ 0 w 60570"/>
              <a:gd name="connsiteY4" fmla="*/ 12684 h 23696"/>
              <a:gd name="connsiteX0" fmla="*/ 60570 w 60570"/>
              <a:gd name="connsiteY0" fmla="*/ 0 h 23659"/>
              <a:gd name="connsiteX1" fmla="*/ 43220 w 60570"/>
              <a:gd name="connsiteY1" fmla="*/ 9117 h 23659"/>
              <a:gd name="connsiteX2" fmla="*/ 33690 w 60570"/>
              <a:gd name="connsiteY2" fmla="*/ 14193 h 23659"/>
              <a:gd name="connsiteX3" fmla="*/ 24939 w 60570"/>
              <a:gd name="connsiteY3" fmla="*/ 18567 h 23659"/>
              <a:gd name="connsiteX4" fmla="*/ 8718 w 60570"/>
              <a:gd name="connsiteY4" fmla="*/ 23434 h 23659"/>
              <a:gd name="connsiteX5" fmla="*/ 0 w 60570"/>
              <a:gd name="connsiteY5" fmla="*/ 12684 h 23659"/>
              <a:gd name="connsiteX0" fmla="*/ 60570 w 60570"/>
              <a:gd name="connsiteY0" fmla="*/ 0 h 23659"/>
              <a:gd name="connsiteX1" fmla="*/ 43220 w 60570"/>
              <a:gd name="connsiteY1" fmla="*/ 9117 h 23659"/>
              <a:gd name="connsiteX2" fmla="*/ 33690 w 60570"/>
              <a:gd name="connsiteY2" fmla="*/ 14193 h 23659"/>
              <a:gd name="connsiteX3" fmla="*/ 24939 w 60570"/>
              <a:gd name="connsiteY3" fmla="*/ 18567 h 23659"/>
              <a:gd name="connsiteX4" fmla="*/ 8718 w 60570"/>
              <a:gd name="connsiteY4" fmla="*/ 23434 h 23659"/>
              <a:gd name="connsiteX5" fmla="*/ 0 w 60570"/>
              <a:gd name="connsiteY5" fmla="*/ 12684 h 23659"/>
              <a:gd name="connsiteX0" fmla="*/ 60570 w 60570"/>
              <a:gd name="connsiteY0" fmla="*/ 0 h 23628"/>
              <a:gd name="connsiteX1" fmla="*/ 43220 w 60570"/>
              <a:gd name="connsiteY1" fmla="*/ 9117 h 23628"/>
              <a:gd name="connsiteX2" fmla="*/ 41401 w 60570"/>
              <a:gd name="connsiteY2" fmla="*/ 19746 h 23628"/>
              <a:gd name="connsiteX3" fmla="*/ 24939 w 60570"/>
              <a:gd name="connsiteY3" fmla="*/ 18567 h 23628"/>
              <a:gd name="connsiteX4" fmla="*/ 8718 w 60570"/>
              <a:gd name="connsiteY4" fmla="*/ 23434 h 23628"/>
              <a:gd name="connsiteX5" fmla="*/ 0 w 60570"/>
              <a:gd name="connsiteY5" fmla="*/ 12684 h 23628"/>
              <a:gd name="connsiteX0" fmla="*/ 60570 w 60570"/>
              <a:gd name="connsiteY0" fmla="*/ 0 h 20268"/>
              <a:gd name="connsiteX1" fmla="*/ 43220 w 60570"/>
              <a:gd name="connsiteY1" fmla="*/ 9117 h 20268"/>
              <a:gd name="connsiteX2" fmla="*/ 41401 w 60570"/>
              <a:gd name="connsiteY2" fmla="*/ 19746 h 20268"/>
              <a:gd name="connsiteX3" fmla="*/ 24939 w 60570"/>
              <a:gd name="connsiteY3" fmla="*/ 18567 h 20268"/>
              <a:gd name="connsiteX4" fmla="*/ 6145 w 60570"/>
              <a:gd name="connsiteY4" fmla="*/ 17987 h 20268"/>
              <a:gd name="connsiteX5" fmla="*/ 0 w 60570"/>
              <a:gd name="connsiteY5" fmla="*/ 12684 h 20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70" h="20268" fill="none" extrusionOk="0">
                <a:moveTo>
                  <a:pt x="60570" y="0"/>
                </a:moveTo>
                <a:cubicBezTo>
                  <a:pt x="54787" y="3039"/>
                  <a:pt x="46415" y="5826"/>
                  <a:pt x="43220" y="9117"/>
                </a:cubicBezTo>
                <a:cubicBezTo>
                  <a:pt x="40025" y="12408"/>
                  <a:pt x="46035" y="17491"/>
                  <a:pt x="41401" y="19746"/>
                </a:cubicBezTo>
                <a:cubicBezTo>
                  <a:pt x="38354" y="21321"/>
                  <a:pt x="30815" y="18860"/>
                  <a:pt x="24939" y="18567"/>
                </a:cubicBezTo>
                <a:cubicBezTo>
                  <a:pt x="19063" y="18274"/>
                  <a:pt x="10275" y="19279"/>
                  <a:pt x="6145" y="17987"/>
                </a:cubicBezTo>
                <a:cubicBezTo>
                  <a:pt x="2015" y="16695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A62885B8-6DEC-4FA2-B9DD-29F52230D613}"/>
              </a:ext>
            </a:extLst>
          </p:cNvPr>
          <p:cNvSpPr/>
          <p:nvPr userDrawn="1"/>
        </p:nvSpPr>
        <p:spPr>
          <a:xfrm rot="5636608" flipH="1">
            <a:off x="-2771586" y="186999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" fmla="*/ 55307 w 86160"/>
              <a:gd name="connsiteY0" fmla="*/ 18 h 50606"/>
              <a:gd name="connsiteX1" fmla="*/ 46385 w 86160"/>
              <a:gd name="connsiteY1" fmla="*/ 3060 h 50606"/>
              <a:gd name="connsiteX2" fmla="*/ 23250 w 86160"/>
              <a:gd name="connsiteY2" fmla="*/ 20903 h 50606"/>
              <a:gd name="connsiteX3" fmla="*/ 15443 w 86160"/>
              <a:gd name="connsiteY3" fmla="*/ 27608 h 50606"/>
              <a:gd name="connsiteX4" fmla="*/ 14517 w 86160"/>
              <a:gd name="connsiteY4" fmla="*/ 27573 h 50606"/>
              <a:gd name="connsiteX5" fmla="*/ 11428 w 86160"/>
              <a:gd name="connsiteY5" fmla="*/ 27456 h 50606"/>
              <a:gd name="connsiteX6" fmla="*/ 39 w 86160"/>
              <a:gd name="connsiteY6" fmla="*/ 31152 h 50606"/>
              <a:gd name="connsiteX7" fmla="*/ 10831 w 86160"/>
              <a:gd name="connsiteY7" fmla="*/ 43079 h 50606"/>
              <a:gd name="connsiteX8" fmla="*/ 30398 w 86160"/>
              <a:gd name="connsiteY8" fmla="*/ 50606 h 50606"/>
              <a:gd name="connsiteX9" fmla="*/ 34419 w 86160"/>
              <a:gd name="connsiteY9" fmla="*/ 49967 h 50606"/>
              <a:gd name="connsiteX10" fmla="*/ 85987 w 86160"/>
              <a:gd name="connsiteY10" fmla="*/ 35163 h 50606"/>
              <a:gd name="connsiteX11" fmla="*/ 75901 w 86160"/>
              <a:gd name="connsiteY11" fmla="*/ 7726 h 50606"/>
              <a:gd name="connsiteX12" fmla="*/ 55307 w 86160"/>
              <a:gd name="connsiteY12" fmla="*/ 18 h 50606"/>
              <a:gd name="connsiteX0" fmla="*/ 55307 w 79837"/>
              <a:gd name="connsiteY0" fmla="*/ 18 h 52262"/>
              <a:gd name="connsiteX1" fmla="*/ 46385 w 79837"/>
              <a:gd name="connsiteY1" fmla="*/ 3060 h 52262"/>
              <a:gd name="connsiteX2" fmla="*/ 23250 w 79837"/>
              <a:gd name="connsiteY2" fmla="*/ 20903 h 52262"/>
              <a:gd name="connsiteX3" fmla="*/ 15443 w 79837"/>
              <a:gd name="connsiteY3" fmla="*/ 27608 h 52262"/>
              <a:gd name="connsiteX4" fmla="*/ 14517 w 79837"/>
              <a:gd name="connsiteY4" fmla="*/ 27573 h 52262"/>
              <a:gd name="connsiteX5" fmla="*/ 11428 w 79837"/>
              <a:gd name="connsiteY5" fmla="*/ 27456 h 52262"/>
              <a:gd name="connsiteX6" fmla="*/ 39 w 79837"/>
              <a:gd name="connsiteY6" fmla="*/ 31152 h 52262"/>
              <a:gd name="connsiteX7" fmla="*/ 10831 w 79837"/>
              <a:gd name="connsiteY7" fmla="*/ 43079 h 52262"/>
              <a:gd name="connsiteX8" fmla="*/ 30398 w 79837"/>
              <a:gd name="connsiteY8" fmla="*/ 50606 h 52262"/>
              <a:gd name="connsiteX9" fmla="*/ 34419 w 79837"/>
              <a:gd name="connsiteY9" fmla="*/ 49967 h 52262"/>
              <a:gd name="connsiteX10" fmla="*/ 79229 w 79837"/>
              <a:gd name="connsiteY10" fmla="*/ 22039 h 52262"/>
              <a:gd name="connsiteX11" fmla="*/ 75901 w 79837"/>
              <a:gd name="connsiteY11" fmla="*/ 7726 h 52262"/>
              <a:gd name="connsiteX12" fmla="*/ 55307 w 79837"/>
              <a:gd name="connsiteY12" fmla="*/ 18 h 52262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14512 w 79832"/>
              <a:gd name="connsiteY4" fmla="*/ 27573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7743 w 79832"/>
              <a:gd name="connsiteY4" fmla="*/ 24210 h 51830"/>
              <a:gd name="connsiteX5" fmla="*/ 11423 w 79832"/>
              <a:gd name="connsiteY5" fmla="*/ 27456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5438 w 79832"/>
              <a:gd name="connsiteY3" fmla="*/ 27608 h 51830"/>
              <a:gd name="connsiteX4" fmla="*/ 7743 w 79832"/>
              <a:gd name="connsiteY4" fmla="*/ 24210 h 51830"/>
              <a:gd name="connsiteX5" fmla="*/ 3611 w 79832"/>
              <a:gd name="connsiteY5" fmla="*/ 25228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  <a:gd name="connsiteX0" fmla="*/ 55302 w 79832"/>
              <a:gd name="connsiteY0" fmla="*/ 18 h 51830"/>
              <a:gd name="connsiteX1" fmla="*/ 46380 w 79832"/>
              <a:gd name="connsiteY1" fmla="*/ 3060 h 51830"/>
              <a:gd name="connsiteX2" fmla="*/ 23245 w 79832"/>
              <a:gd name="connsiteY2" fmla="*/ 20903 h 51830"/>
              <a:gd name="connsiteX3" fmla="*/ 14601 w 79832"/>
              <a:gd name="connsiteY3" fmla="*/ 22240 h 51830"/>
              <a:gd name="connsiteX4" fmla="*/ 7743 w 79832"/>
              <a:gd name="connsiteY4" fmla="*/ 24210 h 51830"/>
              <a:gd name="connsiteX5" fmla="*/ 3611 w 79832"/>
              <a:gd name="connsiteY5" fmla="*/ 25228 h 51830"/>
              <a:gd name="connsiteX6" fmla="*/ 34 w 79832"/>
              <a:gd name="connsiteY6" fmla="*/ 31152 h 51830"/>
              <a:gd name="connsiteX7" fmla="*/ 10826 w 79832"/>
              <a:gd name="connsiteY7" fmla="*/ 43079 h 51830"/>
              <a:gd name="connsiteX8" fmla="*/ 31694 w 79832"/>
              <a:gd name="connsiteY8" fmla="*/ 49313 h 51830"/>
              <a:gd name="connsiteX9" fmla="*/ 34414 w 79832"/>
              <a:gd name="connsiteY9" fmla="*/ 49967 h 51830"/>
              <a:gd name="connsiteX10" fmla="*/ 79224 w 79832"/>
              <a:gd name="connsiteY10" fmla="*/ 22039 h 51830"/>
              <a:gd name="connsiteX11" fmla="*/ 75896 w 79832"/>
              <a:gd name="connsiteY11" fmla="*/ 7726 h 51830"/>
              <a:gd name="connsiteX12" fmla="*/ 55302 w 79832"/>
              <a:gd name="connsiteY12" fmla="*/ 18 h 5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541" y="17706"/>
                  <a:pt x="23245" y="20903"/>
                </a:cubicBezTo>
                <a:cubicBezTo>
                  <a:pt x="17949" y="24100"/>
                  <a:pt x="17185" y="21689"/>
                  <a:pt x="14601" y="22240"/>
                </a:cubicBezTo>
                <a:cubicBezTo>
                  <a:pt x="12017" y="22791"/>
                  <a:pt x="9575" y="23712"/>
                  <a:pt x="7743" y="24210"/>
                </a:cubicBezTo>
                <a:cubicBezTo>
                  <a:pt x="5911" y="24708"/>
                  <a:pt x="4896" y="24071"/>
                  <a:pt x="3611" y="25228"/>
                </a:cubicBezTo>
                <a:cubicBezTo>
                  <a:pt x="2326" y="26385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bg2">
              <a:lumMod val="5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8;p3">
            <a:extLst>
              <a:ext uri="{FF2B5EF4-FFF2-40B4-BE49-F238E27FC236}">
                <a16:creationId xmlns:a16="http://schemas.microsoft.com/office/drawing/2014/main" id="{86999DB2-B561-462F-932D-00FD467CF02F}"/>
              </a:ext>
            </a:extLst>
          </p:cNvPr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" fmla="*/ 23543 w 35687"/>
              <a:gd name="connsiteY0" fmla="*/ 0 h 27237"/>
              <a:gd name="connsiteX1" fmla="*/ 1089 w 35687"/>
              <a:gd name="connsiteY1" fmla="*/ 6817 h 27237"/>
              <a:gd name="connsiteX2" fmla="*/ 4713 w 35687"/>
              <a:gd name="connsiteY2" fmla="*/ 25300 h 27237"/>
              <a:gd name="connsiteX3" fmla="*/ 15182 w 35687"/>
              <a:gd name="connsiteY3" fmla="*/ 25949 h 27237"/>
              <a:gd name="connsiteX4" fmla="*/ 35189 w 35687"/>
              <a:gd name="connsiteY4" fmla="*/ 18845 h 27237"/>
              <a:gd name="connsiteX5" fmla="*/ 25604 w 35687"/>
              <a:gd name="connsiteY5" fmla="*/ 248 h 27237"/>
              <a:gd name="connsiteX6" fmla="*/ 23543 w 35687"/>
              <a:gd name="connsiteY6" fmla="*/ 0 h 27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13" name="Google Shape;50;p6">
            <a:extLst>
              <a:ext uri="{FF2B5EF4-FFF2-40B4-BE49-F238E27FC236}">
                <a16:creationId xmlns:a16="http://schemas.microsoft.com/office/drawing/2014/main" id="{08110697-2E6A-4EEF-A5D3-9A9A6A5B6CB1}"/>
              </a:ext>
            </a:extLst>
          </p:cNvPr>
          <p:cNvSpPr/>
          <p:nvPr userDrawn="1"/>
        </p:nvSpPr>
        <p:spPr>
          <a:xfrm>
            <a:off x="10025031" y="350362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2;p6">
            <a:extLst>
              <a:ext uri="{FF2B5EF4-FFF2-40B4-BE49-F238E27FC236}">
                <a16:creationId xmlns:a16="http://schemas.microsoft.com/office/drawing/2014/main" id="{A9200C5C-CC98-4883-9799-B45F2452AB80}"/>
              </a:ext>
            </a:extLst>
          </p:cNvPr>
          <p:cNvSpPr/>
          <p:nvPr userDrawn="1"/>
        </p:nvSpPr>
        <p:spPr>
          <a:xfrm rot="-649760" flipH="1">
            <a:off x="11070536" y="1810606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tx1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Google Shape;20;p3">
            <a:extLst>
              <a:ext uri="{FF2B5EF4-FFF2-40B4-BE49-F238E27FC236}">
                <a16:creationId xmlns:a16="http://schemas.microsoft.com/office/drawing/2014/main" id="{42B27CB7-B8F6-4150-82B0-1DA60E4ED577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Google Shape;31;p4">
            <a:extLst>
              <a:ext uri="{FF2B5EF4-FFF2-40B4-BE49-F238E27FC236}">
                <a16:creationId xmlns:a16="http://schemas.microsoft.com/office/drawing/2014/main" id="{3961D41C-692B-42A8-87F2-FC59DE6A9946}"/>
              </a:ext>
            </a:extLst>
          </p:cNvPr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8914 w 71064"/>
              <a:gd name="connsiteY7" fmla="*/ 79207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  <a:gd name="connsiteX0" fmla="*/ 17108 w 71064"/>
              <a:gd name="connsiteY0" fmla="*/ 0 h 86173"/>
              <a:gd name="connsiteX1" fmla="*/ 8798 w 71064"/>
              <a:gd name="connsiteY1" fmla="*/ 27428 h 86173"/>
              <a:gd name="connsiteX2" fmla="*/ 1869 w 71064"/>
              <a:gd name="connsiteY2" fmla="*/ 50348 h 86173"/>
              <a:gd name="connsiteX3" fmla="*/ 11781 w 71064"/>
              <a:gd name="connsiteY3" fmla="*/ 76346 h 86173"/>
              <a:gd name="connsiteX4" fmla="*/ 18852 w 71064"/>
              <a:gd name="connsiteY4" fmla="*/ 85987 h 86173"/>
              <a:gd name="connsiteX5" fmla="*/ 26186 w 71064"/>
              <a:gd name="connsiteY5" fmla="*/ 82951 h 86173"/>
              <a:gd name="connsiteX6" fmla="*/ 32302 w 71064"/>
              <a:gd name="connsiteY6" fmla="*/ 83740 h 86173"/>
              <a:gd name="connsiteX7" fmla="*/ 39225 w 71064"/>
              <a:gd name="connsiteY7" fmla="*/ 77558 h 86173"/>
              <a:gd name="connsiteX8" fmla="*/ 70362 w 71064"/>
              <a:gd name="connsiteY8" fmla="*/ 44134 h 86173"/>
              <a:gd name="connsiteX9" fmla="*/ 25057 w 71064"/>
              <a:gd name="connsiteY9" fmla="*/ 1874 h 86173"/>
              <a:gd name="connsiteX10" fmla="*/ 17108 w 71064"/>
              <a:gd name="connsiteY10" fmla="*/ 0 h 8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Google Shape;20;p3">
            <a:extLst>
              <a:ext uri="{FF2B5EF4-FFF2-40B4-BE49-F238E27FC236}">
                <a16:creationId xmlns:a16="http://schemas.microsoft.com/office/drawing/2014/main" id="{BD2B567A-3974-49D9-9365-ABA029B9EE22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8" name="Google Shape;20;p3">
            <a:extLst>
              <a:ext uri="{FF2B5EF4-FFF2-40B4-BE49-F238E27FC236}">
                <a16:creationId xmlns:a16="http://schemas.microsoft.com/office/drawing/2014/main" id="{3661A48C-0581-4A50-81C7-B3B86E720CED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D783F46-28AD-4637-AD6E-EF0F4BEBE18F}"/>
              </a:ext>
            </a:extLst>
          </p:cNvPr>
          <p:cNvSpPr/>
          <p:nvPr userDrawn="1"/>
        </p:nvSpPr>
        <p:spPr>
          <a:xfrm>
            <a:off x="493157" y="1825625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C2D5D-33C7-46BA-8D64-637980F3F2C6}"/>
              </a:ext>
            </a:extLst>
          </p:cNvPr>
          <p:cNvSpPr txBox="1"/>
          <p:nvPr userDrawn="1"/>
        </p:nvSpPr>
        <p:spPr>
          <a:xfrm>
            <a:off x="603200" y="177635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C2D4C48-012A-47F2-82C5-CC2C42224701}"/>
              </a:ext>
            </a:extLst>
          </p:cNvPr>
          <p:cNvSpPr/>
          <p:nvPr userDrawn="1"/>
        </p:nvSpPr>
        <p:spPr>
          <a:xfrm>
            <a:off x="493157" y="336193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C976E7-395F-473D-AE52-64051C6F4209}"/>
              </a:ext>
            </a:extLst>
          </p:cNvPr>
          <p:cNvSpPr txBox="1"/>
          <p:nvPr userDrawn="1"/>
        </p:nvSpPr>
        <p:spPr>
          <a:xfrm>
            <a:off x="603200" y="331266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2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CC97AE06-67D2-4FE1-8D66-0709A8F8A095}"/>
              </a:ext>
            </a:extLst>
          </p:cNvPr>
          <p:cNvSpPr/>
          <p:nvPr userDrawn="1"/>
        </p:nvSpPr>
        <p:spPr>
          <a:xfrm>
            <a:off x="493157" y="486816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4E5362-FA71-43B9-94D8-B6D46FF6B930}"/>
              </a:ext>
            </a:extLst>
          </p:cNvPr>
          <p:cNvSpPr txBox="1"/>
          <p:nvPr userDrawn="1"/>
        </p:nvSpPr>
        <p:spPr>
          <a:xfrm>
            <a:off x="603200" y="481889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Google Shape;20;p3">
            <a:extLst>
              <a:ext uri="{FF2B5EF4-FFF2-40B4-BE49-F238E27FC236}">
                <a16:creationId xmlns:a16="http://schemas.microsoft.com/office/drawing/2014/main" id="{AD30BB36-1D6F-482F-B8DE-C6992517755C}"/>
              </a:ext>
            </a:extLst>
          </p:cNvPr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" fmla="*/ 31604 w 86049"/>
              <a:gd name="connsiteY0" fmla="*/ 13249 h 50221"/>
              <a:gd name="connsiteX1" fmla="*/ 43799 w 86049"/>
              <a:gd name="connsiteY1" fmla="*/ 73 h 50221"/>
              <a:gd name="connsiteX2" fmla="*/ 23250 w 86049"/>
              <a:gd name="connsiteY2" fmla="*/ 20518 h 50221"/>
              <a:gd name="connsiteX3" fmla="*/ 15443 w 86049"/>
              <a:gd name="connsiteY3" fmla="*/ 27223 h 50221"/>
              <a:gd name="connsiteX4" fmla="*/ 14517 w 86049"/>
              <a:gd name="connsiteY4" fmla="*/ 27188 h 50221"/>
              <a:gd name="connsiteX5" fmla="*/ 11428 w 86049"/>
              <a:gd name="connsiteY5" fmla="*/ 27071 h 50221"/>
              <a:gd name="connsiteX6" fmla="*/ 39 w 86049"/>
              <a:gd name="connsiteY6" fmla="*/ 30767 h 50221"/>
              <a:gd name="connsiteX7" fmla="*/ 10831 w 86049"/>
              <a:gd name="connsiteY7" fmla="*/ 42694 h 50221"/>
              <a:gd name="connsiteX8" fmla="*/ 30398 w 86049"/>
              <a:gd name="connsiteY8" fmla="*/ 50221 h 50221"/>
              <a:gd name="connsiteX9" fmla="*/ 34419 w 86049"/>
              <a:gd name="connsiteY9" fmla="*/ 49582 h 50221"/>
              <a:gd name="connsiteX10" fmla="*/ 85987 w 86049"/>
              <a:gd name="connsiteY10" fmla="*/ 34778 h 50221"/>
              <a:gd name="connsiteX11" fmla="*/ 58717 w 86049"/>
              <a:gd name="connsiteY11" fmla="*/ 14646 h 50221"/>
              <a:gd name="connsiteX12" fmla="*/ 31604 w 86049"/>
              <a:gd name="connsiteY12" fmla="*/ 13249 h 50221"/>
              <a:gd name="connsiteX0" fmla="*/ 31604 w 86049"/>
              <a:gd name="connsiteY0" fmla="*/ 663 h 37635"/>
              <a:gd name="connsiteX1" fmla="*/ 28313 w 86049"/>
              <a:gd name="connsiteY1" fmla="*/ 5107 h 37635"/>
              <a:gd name="connsiteX2" fmla="*/ 23250 w 86049"/>
              <a:gd name="connsiteY2" fmla="*/ 7932 h 37635"/>
              <a:gd name="connsiteX3" fmla="*/ 15443 w 86049"/>
              <a:gd name="connsiteY3" fmla="*/ 14637 h 37635"/>
              <a:gd name="connsiteX4" fmla="*/ 14517 w 86049"/>
              <a:gd name="connsiteY4" fmla="*/ 14602 h 37635"/>
              <a:gd name="connsiteX5" fmla="*/ 11428 w 86049"/>
              <a:gd name="connsiteY5" fmla="*/ 14485 h 37635"/>
              <a:gd name="connsiteX6" fmla="*/ 39 w 86049"/>
              <a:gd name="connsiteY6" fmla="*/ 18181 h 37635"/>
              <a:gd name="connsiteX7" fmla="*/ 10831 w 86049"/>
              <a:gd name="connsiteY7" fmla="*/ 30108 h 37635"/>
              <a:gd name="connsiteX8" fmla="*/ 30398 w 86049"/>
              <a:gd name="connsiteY8" fmla="*/ 37635 h 37635"/>
              <a:gd name="connsiteX9" fmla="*/ 34419 w 86049"/>
              <a:gd name="connsiteY9" fmla="*/ 36996 h 37635"/>
              <a:gd name="connsiteX10" fmla="*/ 85987 w 86049"/>
              <a:gd name="connsiteY10" fmla="*/ 22192 h 37635"/>
              <a:gd name="connsiteX11" fmla="*/ 58717 w 86049"/>
              <a:gd name="connsiteY11" fmla="*/ 2060 h 37635"/>
              <a:gd name="connsiteX12" fmla="*/ 31604 w 86049"/>
              <a:gd name="connsiteY12" fmla="*/ 663 h 37635"/>
              <a:gd name="connsiteX0" fmla="*/ 31604 w 77695"/>
              <a:gd name="connsiteY0" fmla="*/ 1620 h 44988"/>
              <a:gd name="connsiteX1" fmla="*/ 28313 w 77695"/>
              <a:gd name="connsiteY1" fmla="*/ 6064 h 44988"/>
              <a:gd name="connsiteX2" fmla="*/ 23250 w 77695"/>
              <a:gd name="connsiteY2" fmla="*/ 8889 h 44988"/>
              <a:gd name="connsiteX3" fmla="*/ 15443 w 77695"/>
              <a:gd name="connsiteY3" fmla="*/ 15594 h 44988"/>
              <a:gd name="connsiteX4" fmla="*/ 14517 w 77695"/>
              <a:gd name="connsiteY4" fmla="*/ 15559 h 44988"/>
              <a:gd name="connsiteX5" fmla="*/ 11428 w 77695"/>
              <a:gd name="connsiteY5" fmla="*/ 15442 h 44988"/>
              <a:gd name="connsiteX6" fmla="*/ 39 w 77695"/>
              <a:gd name="connsiteY6" fmla="*/ 19138 h 44988"/>
              <a:gd name="connsiteX7" fmla="*/ 10831 w 77695"/>
              <a:gd name="connsiteY7" fmla="*/ 31065 h 44988"/>
              <a:gd name="connsiteX8" fmla="*/ 30398 w 77695"/>
              <a:gd name="connsiteY8" fmla="*/ 38592 h 44988"/>
              <a:gd name="connsiteX9" fmla="*/ 34419 w 77695"/>
              <a:gd name="connsiteY9" fmla="*/ 37953 h 44988"/>
              <a:gd name="connsiteX10" fmla="*/ 77601 w 77695"/>
              <a:gd name="connsiteY10" fmla="*/ 36699 h 44988"/>
              <a:gd name="connsiteX11" fmla="*/ 58717 w 77695"/>
              <a:gd name="connsiteY11" fmla="*/ 3017 h 44988"/>
              <a:gd name="connsiteX12" fmla="*/ 31604 w 77695"/>
              <a:gd name="connsiteY12" fmla="*/ 1620 h 44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AA59A-4A26-4188-9314-2D69AA7493E0}"/>
              </a:ext>
            </a:extLst>
          </p:cNvPr>
          <p:cNvSpPr txBox="1"/>
          <p:nvPr/>
        </p:nvSpPr>
        <p:spPr>
          <a:xfrm>
            <a:off x="985840" y="361952"/>
            <a:ext cx="10220325" cy="124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600" b="1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федеральное государственное бюджетное образовательное учреждение</a:t>
            </a:r>
          </a:p>
          <a:p>
            <a:pPr algn="ct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600" b="1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высшего образования «Казанский национальный исследовательский технический </a:t>
            </a:r>
          </a:p>
          <a:p>
            <a:pPr algn="ct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600" b="1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университет им. А. Н. Туполева-КАИ» </a:t>
            </a:r>
          </a:p>
          <a:p>
            <a:pPr algn="ct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6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Отделение СПО</a:t>
            </a:r>
            <a:r>
              <a:rPr lang="en-GB" sz="16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</a:t>
            </a:r>
            <a:r>
              <a:rPr lang="ru-RU" sz="1600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в ИКТЗИ (Колледж информационных технологий)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406F0-0EAE-4A17-BCC7-AD2EB70BCA77}"/>
              </a:ext>
            </a:extLst>
          </p:cNvPr>
          <p:cNvSpPr txBox="1"/>
          <p:nvPr/>
        </p:nvSpPr>
        <p:spPr>
          <a:xfrm>
            <a:off x="360919" y="2379185"/>
            <a:ext cx="11470163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Дипломная работа на тему</a:t>
            </a:r>
            <a:r>
              <a:rPr lang="en-US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</a:t>
            </a:r>
            <a:endParaRPr lang="ru-RU" sz="1867" kern="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algn="ct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Проектирование и реализация веб-приложения с мини-играми для школьников с целью повышения уровня их информационной грамотности</a:t>
            </a:r>
            <a:endParaRPr lang="ru-RU" sz="1867" kern="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algn="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Выполнил: Абаев А. А.</a:t>
            </a:r>
          </a:p>
          <a:p>
            <a:pPr algn="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студент группы 4433</a:t>
            </a:r>
          </a:p>
          <a:p>
            <a:pPr algn="r" defTabSz="1219170">
              <a:lnSpc>
                <a:spcPct val="120000"/>
              </a:lnSpc>
              <a:buClr>
                <a:srgbClr val="000000"/>
              </a:buClr>
            </a:pPr>
            <a:endParaRPr lang="ru-RU" sz="1867" kern="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algn="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Научный руководитель:</a:t>
            </a:r>
          </a:p>
          <a:p>
            <a:pPr algn="r" defTabSz="1219170">
              <a:lnSpc>
                <a:spcPct val="120000"/>
              </a:lnSpc>
              <a:buClr>
                <a:srgbClr val="000000"/>
              </a:buClr>
            </a:pPr>
            <a:r>
              <a:rPr lang="ru-RU" sz="1867" kern="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Лоповок</a:t>
            </a:r>
            <a:r>
              <a:rPr lang="ru-RU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Е.Е.</a:t>
            </a:r>
          </a:p>
          <a:p>
            <a:pPr defTabSz="1219170">
              <a:lnSpc>
                <a:spcPct val="120000"/>
              </a:lnSpc>
              <a:buClr>
                <a:srgbClr val="000000"/>
              </a:buClr>
            </a:pPr>
            <a:endParaRPr lang="ru-RU" sz="1600" kern="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ru-RU" sz="1600" kern="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ru-RU" sz="1867" kern="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Казань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8F54C-C91D-E4A5-5E67-7D63FD9C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Актуальность и проблема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7E6586-994B-1DFF-319D-9146C97AE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5467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Почему это важно?</a:t>
            </a:r>
          </a:p>
          <a:p>
            <a:r>
              <a:rPr lang="ru-RU" dirty="0"/>
              <a:t>Кибератаки растут на 27% в год</a:t>
            </a:r>
          </a:p>
          <a:p>
            <a:r>
              <a:rPr lang="ru-RU" dirty="0"/>
              <a:t>Недостаток квалифицированных специалистов  </a:t>
            </a:r>
          </a:p>
          <a:p>
            <a:r>
              <a:rPr lang="ru-RU" dirty="0"/>
              <a:t>Низкая грамотность в области кибербезопасности</a:t>
            </a:r>
            <a:br>
              <a:rPr lang="ru-RU" dirty="0"/>
            </a:br>
            <a:r>
              <a:rPr lang="ru-RU" dirty="0"/>
              <a:t>Решение: интерактивное обучение через игры и викторины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712BE4-1F58-43BD-D0AC-6F536E9B6B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02462" y="1253331"/>
            <a:ext cx="4351338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843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4FED4-D72E-5FA9-ADF1-64B165F1E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Цель и задачи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80A22-949E-721B-6768-31F9CA6A3B26}"/>
              </a:ext>
            </a:extLst>
          </p:cNvPr>
          <p:cNvSpPr txBox="1"/>
          <p:nvPr/>
        </p:nvSpPr>
        <p:spPr>
          <a:xfrm>
            <a:off x="785446" y="1690687"/>
            <a:ext cx="52841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Цель проекта:</a:t>
            </a:r>
          </a:p>
          <a:p>
            <a:r>
              <a:rPr lang="ru-RU" dirty="0">
                <a:solidFill>
                  <a:schemeClr val="bg1"/>
                </a:solidFill>
              </a:rPr>
              <a:t>Разработать интерактивную веб-платформу для обучения основам кибербезопасности с использованием механик геймификации.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B6C49-F1A2-229C-47AA-8C11F98C8E78}"/>
              </a:ext>
            </a:extLst>
          </p:cNvPr>
          <p:cNvSpPr txBox="1"/>
          <p:nvPr/>
        </p:nvSpPr>
        <p:spPr>
          <a:xfrm>
            <a:off x="6390174" y="1690687"/>
            <a:ext cx="49636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Основные задачи:</a:t>
            </a:r>
          </a:p>
          <a:p>
            <a:r>
              <a:rPr lang="ru-RU" dirty="0">
                <a:solidFill>
                  <a:schemeClr val="bg1"/>
                </a:solidFill>
              </a:rPr>
              <a:t>1. Разработать архитектуру многомодульного приложения</a:t>
            </a:r>
          </a:p>
          <a:p>
            <a:r>
              <a:rPr lang="ru-RU" dirty="0">
                <a:solidFill>
                  <a:schemeClr val="bg1"/>
                </a:solidFill>
              </a:rPr>
              <a:t>2. Реализовать систему авторизации с ролевым доступом</a:t>
            </a:r>
          </a:p>
          <a:p>
            <a:r>
              <a:rPr lang="ru-RU" dirty="0">
                <a:solidFill>
                  <a:schemeClr val="bg1"/>
                </a:solidFill>
              </a:rPr>
              <a:t>3. Создать базу данных с учебным контентом</a:t>
            </a:r>
          </a:p>
          <a:p>
            <a:r>
              <a:rPr lang="ru-RU" dirty="0">
                <a:solidFill>
                  <a:schemeClr val="bg1"/>
                </a:solidFill>
              </a:rPr>
              <a:t>4. Разработать интерактивные викторины и мини-игры</a:t>
            </a:r>
          </a:p>
          <a:p>
            <a:r>
              <a:rPr lang="ru-RU" dirty="0">
                <a:solidFill>
                  <a:schemeClr val="bg1"/>
                </a:solidFill>
              </a:rPr>
              <a:t>5. Создать административную панель для управления контентом</a:t>
            </a:r>
          </a:p>
          <a:p>
            <a:r>
              <a:rPr lang="ru-RU" dirty="0">
                <a:solidFill>
                  <a:schemeClr val="bg1"/>
                </a:solidFill>
              </a:rPr>
              <a:t>6. Реализовать систему отслеживания прогресса</a:t>
            </a:r>
          </a:p>
          <a:p>
            <a:r>
              <a:rPr lang="ru-RU" dirty="0">
                <a:solidFill>
                  <a:schemeClr val="bg1"/>
                </a:solidFill>
              </a:rPr>
              <a:t>7. Протестировать все компоненты системы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56723E3-FF2C-2FAC-8C5A-7C2A3C6E0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96313"/>
            <a:ext cx="1796562" cy="179656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8BBB2F9-561C-B15E-2A9A-ED573687F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762" y="3168015"/>
            <a:ext cx="1796562" cy="179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3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E1D2FE2-DA05-E93A-F6D0-97AD5652FB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Архитектура системы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3E880A-9824-2C14-6059-55E5A96DF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675" y="1690688"/>
            <a:ext cx="31686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7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0B241-47DB-71BD-F825-C7791F6B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Технологический стек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139F8AB-6D3A-224C-8DF9-74FBB8D765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903534"/>
              </p:ext>
            </p:extLst>
          </p:nvPr>
        </p:nvGraphicFramePr>
        <p:xfrm>
          <a:off x="838200" y="1825625"/>
          <a:ext cx="10515597" cy="370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362080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429899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99583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94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NestJS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5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Prisma 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Prisma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Migration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07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093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TanStack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Swagger API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825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 Hook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Jest/Unit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670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84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Tailwind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32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Vite Bundler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965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Vitest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(Unit Tests)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Comprehensive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248497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D82B50-7C5E-8748-1882-916497B0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91766"/>
            <a:ext cx="1000125" cy="10001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467B81-EAA6-1E25-1019-B3D437DEB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597" y="5668962"/>
            <a:ext cx="1117600" cy="1117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AFA4D3-E56D-513F-F700-EEA090C89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197" y="674291"/>
            <a:ext cx="1117600" cy="11176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CB0B5E-F276-A5B8-568B-5D1F5D30E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5668962"/>
            <a:ext cx="11176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7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6DB68E0-BDC7-E638-A895-D73AA929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Диаграмма </a:t>
            </a:r>
            <a:r>
              <a:rPr lang="en-US" b="1" dirty="0">
                <a:solidFill>
                  <a:schemeClr val="bg1"/>
                </a:solidFill>
              </a:rPr>
              <a:t>USE-CASE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50D7E8-1B36-5877-5618-80C55E7A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363" y="1548606"/>
            <a:ext cx="5387274" cy="4905375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301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A7D18-1771-870E-6425-EE0F6939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Безопасность и тестирование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26B87-2831-1EC0-4752-2537BDB125D2}"/>
              </a:ext>
            </a:extLst>
          </p:cNvPr>
          <p:cNvSpPr txBox="1"/>
          <p:nvPr/>
        </p:nvSpPr>
        <p:spPr>
          <a:xfrm>
            <a:off x="2698322" y="1690688"/>
            <a:ext cx="3075110" cy="3693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Меры безопасности: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JWT </a:t>
            </a:r>
            <a:r>
              <a:rPr lang="ru-RU" dirty="0" err="1">
                <a:solidFill>
                  <a:schemeClr val="bg1"/>
                </a:solidFill>
              </a:rPr>
              <a:t>Authentication</a:t>
            </a:r>
            <a:r>
              <a:rPr lang="ru-RU" dirty="0">
                <a:solidFill>
                  <a:schemeClr val="bg1"/>
                </a:solidFill>
              </a:rPr>
              <a:t> с экспирацией токена (24 часа)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Ролевое разделение доступа (USER/ADMIN)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Хеширование пароля (</a:t>
            </a:r>
            <a:r>
              <a:rPr lang="ru-RU" dirty="0" err="1">
                <a:solidFill>
                  <a:schemeClr val="bg1"/>
                </a:solidFill>
              </a:rPr>
              <a:t>bcrypt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Валидация входных данных на всех уровнях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Защита от SQL-инъекций (использование ORM)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Логирование всех действий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4A83F-70BE-812A-8643-5BCA3ECDB28F}"/>
              </a:ext>
            </a:extLst>
          </p:cNvPr>
          <p:cNvSpPr txBox="1"/>
          <p:nvPr/>
        </p:nvSpPr>
        <p:spPr>
          <a:xfrm>
            <a:off x="6418570" y="1690688"/>
            <a:ext cx="3468932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Результаты тестирования: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Ручное тестирование </a:t>
            </a:r>
            <a:r>
              <a:rPr lang="en-US" dirty="0">
                <a:solidFill>
                  <a:schemeClr val="bg1"/>
                </a:solidFill>
              </a:rPr>
              <a:t>UI: 35/35 </a:t>
            </a:r>
            <a:r>
              <a:rPr lang="ru-RU" dirty="0">
                <a:solidFill>
                  <a:schemeClr val="bg1"/>
                </a:solidFill>
              </a:rPr>
              <a:t>тестов пройдено 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Тестирование </a:t>
            </a:r>
            <a:r>
              <a:rPr lang="en-US" dirty="0">
                <a:solidFill>
                  <a:schemeClr val="bg1"/>
                </a:solidFill>
              </a:rPr>
              <a:t>API: 19/19 </a:t>
            </a:r>
            <a:r>
              <a:rPr lang="ru-RU" dirty="0">
                <a:solidFill>
                  <a:schemeClr val="bg1"/>
                </a:solidFill>
              </a:rPr>
              <a:t>тестов пройдено 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Unit-</a:t>
            </a:r>
            <a:r>
              <a:rPr lang="ru-RU" dirty="0">
                <a:solidFill>
                  <a:schemeClr val="bg1"/>
                </a:solidFill>
              </a:rPr>
              <a:t>тесты </a:t>
            </a:r>
            <a:r>
              <a:rPr lang="en-US" dirty="0">
                <a:solidFill>
                  <a:schemeClr val="bg1"/>
                </a:solidFill>
              </a:rPr>
              <a:t>Backend: 9/9 </a:t>
            </a:r>
            <a:r>
              <a:rPr lang="ru-RU" dirty="0">
                <a:solidFill>
                  <a:schemeClr val="bg1"/>
                </a:solidFill>
              </a:rPr>
              <a:t>тестов пройдено </a:t>
            </a:r>
          </a:p>
          <a:p>
            <a:pPr indent="4500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Unit-</a:t>
            </a:r>
            <a:r>
              <a:rPr lang="ru-RU" dirty="0">
                <a:solidFill>
                  <a:schemeClr val="bg1"/>
                </a:solidFill>
              </a:rPr>
              <a:t>тесты </a:t>
            </a:r>
            <a:r>
              <a:rPr lang="en-US" dirty="0">
                <a:solidFill>
                  <a:schemeClr val="bg1"/>
                </a:solidFill>
              </a:rPr>
              <a:t>Frontend: 13/13 </a:t>
            </a:r>
            <a:r>
              <a:rPr lang="ru-RU" dirty="0">
                <a:solidFill>
                  <a:schemeClr val="bg1"/>
                </a:solidFill>
              </a:rPr>
              <a:t>тестов пройдено 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Итого: 76 из 76 тестов пройдено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93584C-D618-E361-EF71-BD12BA23E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81" y="1690688"/>
            <a:ext cx="1431161" cy="143116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9EB1316-CF26-EC1C-0BA1-60B06B64F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16" y="3262525"/>
            <a:ext cx="1562376" cy="156237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A280BDE-C20A-B3A3-C02C-58BCF6CE4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546" y="1750249"/>
            <a:ext cx="1371600" cy="13716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FFCEB4E-B502-E5FD-73BA-F655CB2E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5792" y="3347793"/>
            <a:ext cx="1477108" cy="14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3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82188-AAA0-446D-0F92-F33A21A2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Работа приложения</a:t>
            </a:r>
            <a:endParaRPr lang="ru-RU" b="1" dirty="0"/>
          </a:p>
        </p:txBody>
      </p:sp>
      <p:pic>
        <p:nvPicPr>
          <p:cNvPr id="4" name="эпизода 01">
            <a:hlinkClick r:id="" action="ppaction://media"/>
            <a:extLst>
              <a:ext uri="{FF2B5EF4-FFF2-40B4-BE49-F238E27FC236}">
                <a16:creationId xmlns:a16="http://schemas.microsoft.com/office/drawing/2014/main" id="{DD736981-AFF0-4377-0F22-47E7AC80DD0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8056" y="1920875"/>
            <a:ext cx="7735887" cy="4351338"/>
          </a:xfrm>
        </p:spPr>
      </p:pic>
    </p:spTree>
    <p:extLst>
      <p:ext uri="{BB962C8B-B14F-4D97-AF65-F5344CB8AC3E}">
        <p14:creationId xmlns:p14="http://schemas.microsoft.com/office/powerpoint/2010/main" val="326245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8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9A117-841C-4B32-9B3C-A467645B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 и будущие направления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7AA07-BD3A-642D-2680-937D400AC049}"/>
              </a:ext>
            </a:extLst>
          </p:cNvPr>
          <p:cNvSpPr txBox="1"/>
          <p:nvPr/>
        </p:nvSpPr>
        <p:spPr>
          <a:xfrm>
            <a:off x="2367328" y="1690688"/>
            <a:ext cx="3418010" cy="3139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Достигнутое:</a:t>
            </a:r>
          </a:p>
          <a:p>
            <a:r>
              <a:rPr lang="ru-RU" dirty="0">
                <a:solidFill>
                  <a:schemeClr val="bg1"/>
                </a:solidFill>
              </a:rPr>
              <a:t>  ✓ Разработана полнофункциональная платформа</a:t>
            </a:r>
          </a:p>
          <a:p>
            <a:r>
              <a:rPr lang="ru-RU" dirty="0">
                <a:solidFill>
                  <a:schemeClr val="bg1"/>
                </a:solidFill>
              </a:rPr>
              <a:t>  ✓ Решена проблема геймификации обучения</a:t>
            </a:r>
          </a:p>
          <a:p>
            <a:r>
              <a:rPr lang="ru-RU" dirty="0">
                <a:solidFill>
                  <a:schemeClr val="bg1"/>
                </a:solidFill>
              </a:rPr>
              <a:t>  ✓ Реализована архитектура </a:t>
            </a:r>
            <a:r>
              <a:rPr lang="ru-RU" dirty="0" err="1">
                <a:solidFill>
                  <a:schemeClr val="bg1"/>
                </a:solidFill>
              </a:rPr>
              <a:t>production-ready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 ✓ Все компоненты протестированы</a:t>
            </a:r>
          </a:p>
          <a:p>
            <a:r>
              <a:rPr lang="ru-RU" dirty="0">
                <a:solidFill>
                  <a:schemeClr val="bg1"/>
                </a:solidFill>
              </a:rPr>
              <a:t>  ✓ Проект готов к публикации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06BB0-EB24-5100-FEE4-3E7CA6528122}"/>
              </a:ext>
            </a:extLst>
          </p:cNvPr>
          <p:cNvSpPr txBox="1"/>
          <p:nvPr/>
        </p:nvSpPr>
        <p:spPr>
          <a:xfrm>
            <a:off x="6734174" y="1690688"/>
            <a:ext cx="2986454" cy="26383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Возможности расширения:</a:t>
            </a:r>
          </a:p>
          <a:p>
            <a:r>
              <a:rPr lang="ru-RU" dirty="0">
                <a:solidFill>
                  <a:schemeClr val="bg1"/>
                </a:solidFill>
              </a:rPr>
              <a:t>  → Мобильное приложение (</a:t>
            </a:r>
            <a:r>
              <a:rPr lang="ru-RU" dirty="0" err="1">
                <a:solidFill>
                  <a:schemeClr val="bg1"/>
                </a:solidFill>
              </a:rPr>
              <a:t>React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Native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ru-RU" dirty="0">
                <a:solidFill>
                  <a:schemeClr val="bg1"/>
                </a:solidFill>
              </a:rPr>
              <a:t>→ Многоязычная версия</a:t>
            </a:r>
          </a:p>
          <a:p>
            <a:r>
              <a:rPr lang="ru-RU" dirty="0">
                <a:solidFill>
                  <a:schemeClr val="bg1"/>
                </a:solidFill>
              </a:rPr>
              <a:t>  → Интеграция с видеоуроками на YouTube</a:t>
            </a:r>
          </a:p>
          <a:p>
            <a:r>
              <a:rPr lang="ru-RU" dirty="0">
                <a:solidFill>
                  <a:schemeClr val="bg1"/>
                </a:solidFill>
              </a:rPr>
              <a:t>  → Соревновательные режимы между пользователями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7808B7-B051-6A23-A946-CA374979F5CF}"/>
              </a:ext>
            </a:extLst>
          </p:cNvPr>
          <p:cNvSpPr txBox="1"/>
          <p:nvPr/>
        </p:nvSpPr>
        <p:spPr>
          <a:xfrm>
            <a:off x="3451530" y="5476500"/>
            <a:ext cx="5288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СПАСИБО ЗА ВНИМАНИЕ! 🎓</a:t>
            </a:r>
          </a:p>
        </p:txBody>
      </p:sp>
    </p:spTree>
    <p:extLst>
      <p:ext uri="{BB962C8B-B14F-4D97-AF65-F5344CB8AC3E}">
        <p14:creationId xmlns:p14="http://schemas.microsoft.com/office/powerpoint/2010/main" val="253726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375</Words>
  <Application>Microsoft Office PowerPoint</Application>
  <PresentationFormat>Широкоэкранный</PresentationFormat>
  <Paragraphs>84</Paragraphs>
  <Slides>9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Segoe UI</vt:lpstr>
      <vt:lpstr>Тема Office</vt:lpstr>
      <vt:lpstr>Презентация PowerPoint</vt:lpstr>
      <vt:lpstr>Актуальность и проблема</vt:lpstr>
      <vt:lpstr>Цель и задачи</vt:lpstr>
      <vt:lpstr>Презентация PowerPoint</vt:lpstr>
      <vt:lpstr>Технологический стек</vt:lpstr>
      <vt:lpstr>Диаграмма USE-CASE</vt:lpstr>
      <vt:lpstr>Безопасность и тестирование</vt:lpstr>
      <vt:lpstr>Работа приложения</vt:lpstr>
      <vt:lpstr>Заключение и будущие направления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темный, шаблон презентации с сайта presentation-creation.ru</dc:title>
  <dc:creator>User Obstinate</dc:creator>
  <cp:lastModifiedBy>Abaev Amir</cp:lastModifiedBy>
  <cp:revision>10</cp:revision>
  <dcterms:created xsi:type="dcterms:W3CDTF">2024-11-04T08:17:15Z</dcterms:created>
  <dcterms:modified xsi:type="dcterms:W3CDTF">2026-06-08T23:47:32Z</dcterms:modified>
</cp:coreProperties>
</file>